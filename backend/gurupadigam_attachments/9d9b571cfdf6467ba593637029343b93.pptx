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6459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" d="100"/>
          <a:sy n="22" d="100"/>
        </p:scale>
        <p:origin x="3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0" y="685800"/>
            <a:ext cx="171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234441" y="5387365"/>
            <a:ext cx="13990320" cy="1146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10"/>
              <a:buFont typeface="Calibri"/>
              <a:buNone/>
              <a:defRPr sz="1081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057400" y="17289780"/>
            <a:ext cx="12344400" cy="7947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4323"/>
              <a:buNone/>
              <a:defRPr sz="4323"/>
            </a:lvl1pPr>
            <a:lvl2pPr lvl="1" algn="ctr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None/>
              <a:defRPr sz="3602"/>
            </a:lvl2pPr>
            <a:lvl3pPr lvl="2" algn="ctr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None/>
              <a:defRPr sz="3241"/>
            </a:lvl3pPr>
            <a:lvl4pPr lvl="3" algn="ctr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4pPr>
            <a:lvl5pPr lvl="4" algn="ctr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5pPr>
            <a:lvl6pPr lvl="5" algn="ctr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6pPr>
            <a:lvl7pPr lvl="6" algn="ctr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7pPr>
            <a:lvl8pPr lvl="7" algn="ctr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8pPr>
            <a:lvl9pPr lvl="8" algn="ctr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1131570" y="8763025"/>
            <a:ext cx="14196060" cy="20886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122998" y="8206752"/>
            <a:ext cx="14196060" cy="1369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10"/>
              <a:buFont typeface="Calibri"/>
              <a:buNone/>
              <a:defRPr sz="1081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1122998" y="22029429"/>
            <a:ext cx="14196060" cy="720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4323"/>
              <a:buNone/>
              <a:defRPr sz="4323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888888"/>
              </a:buClr>
              <a:buSzPts val="3602"/>
              <a:buNone/>
              <a:defRPr sz="3602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888888"/>
              </a:buClr>
              <a:buSzPts val="3241"/>
              <a:buNone/>
              <a:defRPr sz="3241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8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8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8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8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8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8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1131570" y="8763025"/>
            <a:ext cx="6995160" cy="20886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8332470" y="8763025"/>
            <a:ext cx="6995160" cy="20886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1133714" y="1752608"/>
            <a:ext cx="14196060" cy="636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1133716" y="8069588"/>
            <a:ext cx="6963012" cy="395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4323"/>
              <a:buNone/>
              <a:defRPr sz="4323" b="1"/>
            </a:lvl1pPr>
            <a:lvl2pPr marL="914400" lvl="1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None/>
              <a:defRPr sz="3602" b="1"/>
            </a:lvl2pPr>
            <a:lvl3pPr marL="1371600" lvl="2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None/>
              <a:defRPr sz="3241" b="1"/>
            </a:lvl3pPr>
            <a:lvl4pPr marL="1828800" lvl="3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 b="1"/>
            </a:lvl4pPr>
            <a:lvl5pPr marL="2286000" lvl="4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 b="1"/>
            </a:lvl5pPr>
            <a:lvl6pPr marL="2743200" lvl="5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 b="1"/>
            </a:lvl6pPr>
            <a:lvl7pPr marL="3200400" lvl="6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 b="1"/>
            </a:lvl7pPr>
            <a:lvl8pPr marL="3657600" lvl="7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 b="1"/>
            </a:lvl8pPr>
            <a:lvl9pPr marL="4114800" lvl="8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1133716" y="12024360"/>
            <a:ext cx="6963012" cy="17686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8332471" y="8069588"/>
            <a:ext cx="6997304" cy="395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4323"/>
              <a:buNone/>
              <a:defRPr sz="4323" b="1"/>
            </a:lvl1pPr>
            <a:lvl2pPr marL="914400" lvl="1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None/>
              <a:defRPr sz="3602" b="1"/>
            </a:lvl2pPr>
            <a:lvl3pPr marL="1371600" lvl="2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None/>
              <a:defRPr sz="3241" b="1"/>
            </a:lvl3pPr>
            <a:lvl4pPr marL="1828800" lvl="3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 b="1"/>
            </a:lvl4pPr>
            <a:lvl5pPr marL="2286000" lvl="4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 b="1"/>
            </a:lvl5pPr>
            <a:lvl6pPr marL="2743200" lvl="5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 b="1"/>
            </a:lvl6pPr>
            <a:lvl7pPr marL="3200400" lvl="6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 b="1"/>
            </a:lvl7pPr>
            <a:lvl8pPr marL="3657600" lvl="7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 b="1"/>
            </a:lvl8pPr>
            <a:lvl9pPr marL="4114800" lvl="8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8332471" y="12024360"/>
            <a:ext cx="6997304" cy="17686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61"/>
              <a:buFont typeface="Calibri"/>
              <a:buNone/>
              <a:defRPr sz="576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6997304" y="4739649"/>
            <a:ext cx="8332470" cy="23393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94424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5761"/>
              <a:buChar char="•"/>
              <a:defRPr sz="5761"/>
            </a:lvl1pPr>
            <a:lvl2pPr marL="914400" lvl="1" indent="-548577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5039"/>
              <a:buChar char="•"/>
              <a:defRPr sz="5039"/>
            </a:lvl2pPr>
            <a:lvl3pPr marL="1371600" lvl="2" indent="-50311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4323"/>
              <a:buChar char="•"/>
              <a:defRPr sz="4323"/>
            </a:lvl3pPr>
            <a:lvl4pPr marL="1828800" lvl="3" indent="-457327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Char char="•"/>
              <a:defRPr sz="3602"/>
            </a:lvl4pPr>
            <a:lvl5pPr marL="2286000" lvl="4" indent="-457327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Char char="•"/>
              <a:defRPr sz="3602"/>
            </a:lvl5pPr>
            <a:lvl6pPr marL="2743200" lvl="5" indent="-457327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Char char="•"/>
              <a:defRPr sz="3602"/>
            </a:lvl6pPr>
            <a:lvl7pPr marL="3200400" lvl="6" indent="-457327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Char char="•"/>
              <a:defRPr sz="3602"/>
            </a:lvl7pPr>
            <a:lvl8pPr marL="3657600" lvl="7" indent="-457327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Char char="•"/>
              <a:defRPr sz="3602"/>
            </a:lvl8pPr>
            <a:lvl9pPr marL="4114800" lvl="8" indent="-457327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Char char="•"/>
              <a:defRPr sz="3602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1133714" y="9875517"/>
            <a:ext cx="5308520" cy="1829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1pPr>
            <a:lvl2pPr marL="914400" lvl="1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/>
            </a:lvl2pPr>
            <a:lvl3pPr marL="1371600" lvl="2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159"/>
              <a:buNone/>
              <a:defRPr sz="2159"/>
            </a:lvl3pPr>
            <a:lvl4pPr marL="1828800" lvl="3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4pPr>
            <a:lvl5pPr marL="2286000" lvl="4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5pPr>
            <a:lvl6pPr marL="2743200" lvl="5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6pPr>
            <a:lvl7pPr marL="3200400" lvl="6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7pPr>
            <a:lvl8pPr marL="3657600" lvl="7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8pPr>
            <a:lvl9pPr marL="4114800" lvl="8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133714" y="2194584"/>
            <a:ext cx="5308520" cy="7680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61"/>
              <a:buFont typeface="Calibri"/>
              <a:buNone/>
              <a:defRPr sz="576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6997304" y="4739649"/>
            <a:ext cx="8332470" cy="23393398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133714" y="9875517"/>
            <a:ext cx="5308520" cy="1829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1pPr>
            <a:lvl2pPr marL="914400" lvl="1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/>
            </a:lvl2pPr>
            <a:lvl3pPr marL="1371600" lvl="2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2159"/>
              <a:buNone/>
              <a:defRPr sz="2159"/>
            </a:lvl3pPr>
            <a:lvl4pPr marL="1828800" lvl="3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4pPr>
            <a:lvl5pPr marL="2286000" lvl="4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5pPr>
            <a:lvl6pPr marL="2743200" lvl="5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6pPr>
            <a:lvl7pPr marL="3200400" lvl="6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7pPr>
            <a:lvl8pPr marL="3657600" lvl="7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8pPr>
            <a:lvl9pPr marL="4114800" lvl="8" indent="-2286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798"/>
              <a:buNone/>
              <a:defRPr sz="1798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-2213610" y="12108205"/>
            <a:ext cx="20886420" cy="1419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-395289" y="13926526"/>
            <a:ext cx="27896824" cy="3549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-7596183" y="10480381"/>
            <a:ext cx="27896824" cy="1044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31570" y="1752608"/>
            <a:ext cx="14196060" cy="636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20"/>
              <a:buFont typeface="Calibri"/>
              <a:buNone/>
              <a:defRPr sz="7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31570" y="8763025"/>
            <a:ext cx="14196060" cy="20886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48577" algn="l" rtl="0">
              <a:lnSpc>
                <a:spcPct val="90000"/>
              </a:lnSpc>
              <a:spcBef>
                <a:spcPts val="1798"/>
              </a:spcBef>
              <a:spcAft>
                <a:spcPts val="0"/>
              </a:spcAft>
              <a:buClr>
                <a:schemeClr val="dk1"/>
              </a:buClr>
              <a:buSzPts val="5039"/>
              <a:buFont typeface="Arial"/>
              <a:buChar char="•"/>
              <a:defRPr sz="50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03110" algn="l" rtl="0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4323"/>
              <a:buFont typeface="Arial"/>
              <a:buChar char="•"/>
              <a:defRPr sz="432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57327" algn="l" rtl="0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602"/>
              <a:buFont typeface="Arial"/>
              <a:buChar char="•"/>
              <a:defRPr sz="36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4404" algn="l" rtl="0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Font typeface="Arial"/>
              <a:buChar char="•"/>
              <a:defRPr sz="32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4404" algn="l" rtl="0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Font typeface="Arial"/>
              <a:buChar char="•"/>
              <a:defRPr sz="32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4404" algn="l" rtl="0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Font typeface="Arial"/>
              <a:buChar char="•"/>
              <a:defRPr sz="32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4404" algn="l" rtl="0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Font typeface="Arial"/>
              <a:buChar char="•"/>
              <a:defRPr sz="32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4404" algn="l" rtl="0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Font typeface="Arial"/>
              <a:buChar char="•"/>
              <a:defRPr sz="32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4403" algn="l" rtl="0">
              <a:lnSpc>
                <a:spcPct val="90000"/>
              </a:lnSpc>
              <a:spcBef>
                <a:spcPts val="899"/>
              </a:spcBef>
              <a:spcAft>
                <a:spcPts val="0"/>
              </a:spcAft>
              <a:buClr>
                <a:schemeClr val="dk1"/>
              </a:buClr>
              <a:buSzPts val="3241"/>
              <a:buFont typeface="Arial"/>
              <a:buChar char="•"/>
              <a:defRPr sz="32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113157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452110" y="30510502"/>
            <a:ext cx="555498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624310" y="30510502"/>
            <a:ext cx="3703320" cy="175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1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1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1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1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1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1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1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1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15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-1" y="1"/>
            <a:ext cx="16459202" cy="269206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98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-5" y="4016522"/>
            <a:ext cx="16459200" cy="6104100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-2" y="10118010"/>
            <a:ext cx="16459203" cy="5824474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-2" y="15942477"/>
            <a:ext cx="16459203" cy="6237015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98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-2" y="22179494"/>
            <a:ext cx="16459203" cy="5378472"/>
          </a:xfrm>
          <a:prstGeom prst="rect">
            <a:avLst/>
          </a:prstGeom>
          <a:solidFill>
            <a:srgbClr val="FCDC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98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-2" y="27557964"/>
            <a:ext cx="16459203" cy="5360434"/>
          </a:xfrm>
          <a:prstGeom prst="rect">
            <a:avLst/>
          </a:prstGeom>
          <a:solidFill>
            <a:srgbClr val="D7F5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98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87061" y="4171802"/>
            <a:ext cx="3261000" cy="47400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799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-2" y="2698062"/>
            <a:ext cx="16459200" cy="1325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98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87042" y="16251378"/>
            <a:ext cx="1879890" cy="55400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2799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87042" y="22386831"/>
            <a:ext cx="5908962" cy="55400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AND CONCLUSION</a:t>
            </a:r>
            <a:endParaRPr sz="2799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187042" y="27911837"/>
            <a:ext cx="3022889" cy="55400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2799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374075" y="2693072"/>
            <a:ext cx="15505042" cy="120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indent="0" algn="ctr" rtl="0">
              <a:buNone/>
            </a:pPr>
            <a:r>
              <a:rPr sz="3600" b="1" dirty="0">
                <a:latin typeface="Times New Roman"/>
              </a:rPr>
              <a:t>Gravity Lies: An Innovative Virtual Reality Game with Dynamic Gravity Shifts Based on Player Head Movement</a:t>
            </a:r>
            <a:endParaRPr sz="3600" b="1"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187047" y="10269290"/>
            <a:ext cx="5185062" cy="554000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AND METHODS</a:t>
            </a:r>
            <a:endParaRPr sz="2799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238606" y="16975915"/>
            <a:ext cx="10137293" cy="5172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indent="-381000" algn="just" rtl="0">
              <a:buFont typeface="Wingdings" panose="05000000000000000000" pitchFamily="2" charset="2"/>
              <a:buChar char="Ø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Dynamic Gravity Shift algorithm demonstrated better gameplay performance with a mean value of 34.00 compared to 29.00 for the Collision Detection system, enabling smoother gravity transitions and improved player navigation across floors, walls, and ceilings.</a:t>
            </a:r>
          </a:p>
          <a:p>
            <a:pPr marL="457200" marR="0" indent="-381000" algn="just" rtl="0">
              <a:buFont typeface="Wingdings" panose="05000000000000000000" pitchFamily="2" charset="2"/>
              <a:buChar char="Ø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Collision Detection system successfully enabled accurate interaction between the player, hazards, platforms, and goal gate, improving player safety, level reset functionality, and gameplay responsiveness within the Gravity Lies environment.</a:t>
            </a:r>
          </a:p>
          <a:p>
            <a:pPr marL="457200" marR="0" indent="-381000" algn="just" rtl="0">
              <a:buFont typeface="Wingdings" panose="05000000000000000000" pitchFamily="2" charset="2"/>
              <a:buChar char="Ø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integration of Dynamic Gravity Shift and Collision Detection techniques enhanced gameplay stability, player immersion, puzzle-solving capability, and level progression, resulting in a smoother and more engaging gravity-based gaming experience.</a:t>
            </a:r>
            <a:endParaRPr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238606" y="17425771"/>
            <a:ext cx="9249450" cy="400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3043" marR="0" lvl="0" indent="-2159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1"/>
              <a:buFont typeface="Noto Sans Symbols"/>
              <a:buNone/>
            </a:pPr>
            <a:endParaRPr sz="2001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89651" y="23021500"/>
            <a:ext cx="16006500" cy="42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9100" marR="0" indent="-342900" algn="just" rtl="0"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Gravity Lies introduces a new VR gameplay approach using adaptive gravity systems connected to player awareness and movement.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improves immersion and interaction through dynamic environmental physics, headset tracking, and real-time world orientation changes.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experience creates tension, fear of falling, confusion, wonder, isolation, curiosity, and psychological immersion while maintaining comfortable VR transitions.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 may include multiplayer gameplay, advanced puzzles, AI-based adaptation, and improved environmental realism.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system provides a strong foundation for future enhancements such as full VR controller support, improved UI, advanced puzzle mechanics, checkpoints, and enhanced visual effects.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87042" y="28465837"/>
            <a:ext cx="15553200" cy="4421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Mikropoulos, T.A., &amp; Natsis, A. (2024). Educational virtual environments: A ten-year review of empirical research. Computers &amp; Education, 56(3), 769-780.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Chapman, S.J. (2023). Electric Machinery Fundamentals. McGraw-Hill Education. (Two Wattmeter Method, Ch. 6).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Unity Technologies. (2024). Unity XR Interaction Toolkit Documentation. https://docs.unity3d.com/Packages/com.unity.xr.interaction.toolkit@2.0/manual/index.html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Khronos Group. (2025). OpenXR Specification and Developer Documentation. https://www.khronos.org/openxr/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Freina, L., &amp; Ott, M. (2024). A literature review on immersive virtual reality in education: State of the art and perspectives. eLearning &amp; Software for Education Conference.</a:t>
            </a:r>
          </a:p>
          <a:p>
            <a:pPr marL="457200" lvl="0" indent="-3810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Unity Technologies. 2026. “Unity Audio System Documentation.” Unity Technologies. AudioSource and AudioListener Manual.</a:t>
            </a:r>
          </a:p>
          <a:p>
            <a:pPr marL="457200" lvl="0" indent="-381000"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Unity XR Interaction Toolkit, XR Interaction Toolkit Documentation, Unity Technologies, Available:XR Interaction Toolkit Documentation</a:t>
            </a:r>
          </a:p>
        </p:txBody>
      </p:sp>
      <p:sp>
        <p:nvSpPr>
          <p:cNvPr id="101" name="Google Shape;101;p13"/>
          <p:cNvSpPr/>
          <p:nvPr/>
        </p:nvSpPr>
        <p:spPr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146104" y="11243488"/>
            <a:ext cx="16093594" cy="425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9100" marR="0" indent="-342900" algn="just" rt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 3D Engine – Used for designing and developing the Virtual Reality game environment.</a:t>
            </a:r>
          </a:p>
          <a:p>
            <a:pPr marL="419100" marR="0" indent="-342900" algn="just" rt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 Headset and XR Toolkit – Used for immersive gameplay, player tracking, and interaction.</a:t>
            </a:r>
          </a:p>
          <a:p>
            <a:pPr marL="419100" marR="0" indent="-342900" algn="just" rt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Programming Language – Used to implement gravity control, player movement, and game logic.</a:t>
            </a:r>
          </a:p>
          <a:p>
            <a:pPr marL="419100" marR="0" indent="-342900" algn="just" rt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I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Assets and Models – Platforms, cubes, obstacles, puzzle objects, and environment elements for gameplay.</a:t>
            </a:r>
          </a:p>
          <a:p>
            <a:pPr marL="419100" marR="0" indent="-342900" algn="just" rt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VR game environment was created in Unity 3D with interactive platforms and puzzle elements.</a:t>
            </a:r>
          </a:p>
          <a:p>
            <a:pPr marL="419100" marR="0" indent="-342900" algn="just" rt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tested to evaluate gameplay immersion, spatial awareness, and puzzle-solving performance.</a:t>
            </a:r>
          </a:p>
          <a:p>
            <a:pPr marL="419100" marR="0" indent="-342900" algn="just" rt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gravity shifting was implemented based on the player’s viewing orientation.</a:t>
            </a:r>
          </a:p>
          <a:p>
            <a:pPr marL="419100" marR="0" indent="-342900" algn="just" rt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Physics-based mechanics were applied to move platforms, objects, and obstacles according to gravity changes.</a:t>
            </a:r>
          </a:p>
          <a:p>
            <a:pPr marL="419100" marR="0" indent="-342900" algn="just" rtl="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integration techniques were used to add background music and gameplay sound effects for actions like jumping, gravity shifting, and level completion.</a:t>
            </a:r>
          </a:p>
        </p:txBody>
      </p:sp>
      <p:sp>
        <p:nvSpPr>
          <p:cNvPr id="103" name="Google Shape;103;p13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8683250" y="1312258"/>
            <a:ext cx="7381200" cy="1082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r"/>
            <a:r>
              <a:rPr lang="en-US" sz="1800" b="1" dirty="0">
                <a:solidFill>
                  <a:schemeClr val="lt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Student Name: </a:t>
            </a:r>
            <a:r>
              <a:rPr lang="en-US" sz="1800" dirty="0">
                <a:solidFill>
                  <a:schemeClr val="lt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Shaik Asif</a:t>
            </a:r>
            <a:r>
              <a:rPr lang="en-US" sz="1800" b="1" dirty="0">
                <a:solidFill>
                  <a:schemeClr val="lt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r"/>
            <a:r>
              <a:rPr lang="en-US" sz="1800" b="1" dirty="0">
                <a:solidFill>
                  <a:schemeClr val="lt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Project Guide: </a:t>
            </a:r>
            <a:r>
              <a:rPr lang="en-US" sz="1800" dirty="0">
                <a:solidFill>
                  <a:schemeClr val="lt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Dr. Rama A</a:t>
            </a:r>
            <a:br>
              <a:rPr lang="en-US" sz="1800" dirty="0">
                <a:solidFill>
                  <a:schemeClr val="lt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</a:br>
            <a:r>
              <a:rPr lang="en-US" sz="1800" b="1" dirty="0">
                <a:solidFill>
                  <a:schemeClr val="lt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Reg. No: </a:t>
            </a:r>
            <a:r>
              <a:rPr lang="en-US" sz="1800" dirty="0">
                <a:solidFill>
                  <a:schemeClr val="lt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192324144</a:t>
            </a:r>
            <a:endParaRPr lang="en-US" sz="1800" b="1" dirty="0">
              <a:solidFill>
                <a:schemeClr val="lt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  <a:sym typeface="Tahoma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187050" y="4551762"/>
            <a:ext cx="10590300" cy="5502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8100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 b="0" dirty="0">
                <a:latin typeface="Times New Roman"/>
              </a:rPr>
              <a:t>Traditional VR games operate with fixed gravity systems, limiting environmental interaction and gameplay variation. </a:t>
            </a:r>
            <a:endParaRPr lang="en-IN" sz="2400" b="0" dirty="0">
              <a:latin typeface="Times New Roman"/>
            </a:endParaRPr>
          </a:p>
          <a:p>
            <a:pPr marL="457200" indent="-38100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 b="0" dirty="0">
                <a:latin typeface="Times New Roman"/>
              </a:rPr>
              <a:t>Gravity Lies introduces an innovative VR gaming experience where gravity</a:t>
            </a:r>
            <a:r>
              <a:rPr lang="en-IN" sz="2400" b="0" dirty="0">
                <a:latin typeface="Times New Roman"/>
              </a:rPr>
              <a:t> </a:t>
            </a:r>
            <a:r>
              <a:rPr sz="2400" b="0" dirty="0">
                <a:latin typeface="Times New Roman"/>
              </a:rPr>
              <a:t>dynamically changes whenever the player looks away from their current viewing direction.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 b="0" dirty="0">
                <a:latin typeface="Times New Roman"/>
              </a:rPr>
              <a:t>The game challenges players to navigate platforms, solve puzzles, and overcome obstacles while constantly adapting to changing gravity orientations. This enhances spatial awareness, immersion, and movement strategy.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400" b="0" dirty="0">
                <a:latin typeface="Times New Roman"/>
              </a:rPr>
              <a:t>The system combines natural VR head tracking with dynamic environmental physics to create a unique and highly immersive gameplay experience.</a:t>
            </a:r>
          </a:p>
        </p:txBody>
      </p:sp>
      <p:sp>
        <p:nvSpPr>
          <p:cNvPr id="108" name="Google Shape;108;p13"/>
          <p:cNvSpPr txBox="1"/>
          <p:nvPr/>
        </p:nvSpPr>
        <p:spPr>
          <a:xfrm>
            <a:off x="10865550" y="4250538"/>
            <a:ext cx="5361300" cy="55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3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04;p13">
            <a:extLst>
              <a:ext uri="{FF2B5EF4-FFF2-40B4-BE49-F238E27FC236}">
                <a16:creationId xmlns:a16="http://schemas.microsoft.com/office/drawing/2014/main" id="{DCC6CC13-4580-262D-172C-11C8C24EDA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434" y="30765"/>
            <a:ext cx="15952717" cy="1832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113A85-F19C-B746-4857-B3C46A1D5D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1605" y="4757578"/>
            <a:ext cx="5451860" cy="42684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5DDEF7-77CF-D116-D10B-C1AB4DC497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7350" y="16975916"/>
            <a:ext cx="5462348" cy="37966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39524F-832B-0945-5255-DFF8119E3C82}"/>
              </a:ext>
            </a:extLst>
          </p:cNvPr>
          <p:cNvSpPr txBox="1"/>
          <p:nvPr/>
        </p:nvSpPr>
        <p:spPr>
          <a:xfrm>
            <a:off x="11249648" y="9194170"/>
            <a:ext cx="4990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 :-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Reality Environment Demonstrating Dynamic Gravity Shifts in Gravity Lies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CFCB4-5505-8E3B-E20E-8213DCFA4336}"/>
              </a:ext>
            </a:extLst>
          </p:cNvPr>
          <p:cNvSpPr txBox="1"/>
          <p:nvPr/>
        </p:nvSpPr>
        <p:spPr>
          <a:xfrm>
            <a:off x="10965152" y="20962337"/>
            <a:ext cx="5274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 :-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Performance of Dynamic Gravity Shift and Collision Detection in 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Gravity Lies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745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Noto Sans Symbols</vt:lpstr>
      <vt:lpstr>Times New Roman</vt:lpstr>
      <vt:lpstr>Calibri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indla kusuma</dc:creator>
  <cp:lastModifiedBy>Kanna Reddy</cp:lastModifiedBy>
  <cp:revision>3</cp:revision>
  <dcterms:modified xsi:type="dcterms:W3CDTF">2026-05-13T17:49:10Z</dcterms:modified>
</cp:coreProperties>
</file>